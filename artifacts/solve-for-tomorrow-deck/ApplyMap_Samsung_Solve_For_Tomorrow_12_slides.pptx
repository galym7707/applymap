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645566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5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786384" y="64282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Визуал: нейтральная иллюстрация продукта, не документальное фото.</a:t>
            </a:r>
            <a:endParaRPr lang="en-US" sz="690" dirty="0"/>
          </a:p>
        </p:txBody>
      </p:sp>
      <p:pic>
        <p:nvPicPr>
          <p:cNvPr id="4" name="Image 0" descr="C:\Users\galym\Desktop\ApplyMap\artifacts\solve-for-tomorrow-deck\applymap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36448"/>
            <a:ext cx="475488" cy="3169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9576" y="5486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ApplyMap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58368" y="133502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ApplyMap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94944" y="2084832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Цифровой проводник для школьников Казахстана, которым не хватает качественной навигации по поступлению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713232" y="36758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b="1" dirty="0">
                <a:solidFill>
                  <a:srgbClr val="111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STEM-решение для снижения образовательного неравенства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6419088" y="658368"/>
            <a:ext cx="4992624" cy="5230368"/>
          </a:xfrm>
          <a:prstGeom prst="roundRect">
            <a:avLst>
              <a:gd name="adj" fmla="val 1465"/>
            </a:avLst>
          </a:prstGeom>
          <a:solidFill>
            <a:srgbClr val="F7F9FC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48272" y="1042416"/>
            <a:ext cx="4334256" cy="4572000"/>
          </a:xfrm>
          <a:prstGeom prst="arc">
            <a:avLst/>
          </a:prstGeom>
          <a:noFill/>
          <a:ln w="17780">
            <a:solidFill>
              <a:srgbClr val="E1E7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79208" y="1408176"/>
            <a:ext cx="713232" cy="713232"/>
          </a:xfrm>
          <a:prstGeom prst="ellipse">
            <a:avLst/>
          </a:prstGeom>
          <a:solidFill>
            <a:srgbClr val="DDE7FF"/>
          </a:solidFill>
          <a:ln w="12700">
            <a:solidFill>
              <a:srgbClr val="DDE7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0" y="2029968"/>
            <a:ext cx="1170432" cy="1078992"/>
          </a:xfrm>
          <a:prstGeom prst="arc">
            <a:avLst/>
          </a:prstGeom>
          <a:noFill/>
          <a:ln w="25400">
            <a:solidFill>
              <a:srgbClr val="1113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412480" y="1627632"/>
            <a:ext cx="228600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1113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86216" y="1801368"/>
            <a:ext cx="1938528" cy="950976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778240" y="2029968"/>
            <a:ext cx="1078992" cy="0"/>
          </a:xfrm>
          <a:prstGeom prst="line">
            <a:avLst/>
          </a:prstGeom>
          <a:noFill/>
          <a:ln w="25400">
            <a:solidFill>
              <a:srgbClr val="3147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778240" y="2286000"/>
            <a:ext cx="1444752" cy="0"/>
          </a:xfrm>
          <a:prstGeom prst="line">
            <a:avLst/>
          </a:prstGeom>
          <a:noFill/>
          <a:ln w="25400">
            <a:solidFill>
              <a:srgbClr val="12845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10800000">
            <a:off x="8174736" y="3054096"/>
            <a:ext cx="2761488" cy="320040"/>
          </a:xfrm>
          <a:prstGeom prst="trapezoid">
            <a:avLst/>
          </a:prstGeom>
          <a:solidFill>
            <a:srgbClr val="11135F"/>
          </a:solidFill>
          <a:ln w="12700">
            <a:solidFill>
              <a:srgbClr val="1113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39712" y="5358384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Навигация для школьников Казахстана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645566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5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786384" y="64282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БНС, Образование в РК 2019-2023; Минпросвещения, итоги 2023/24.</a:t>
            </a:r>
            <a:endParaRPr lang="en-US" sz="690" dirty="0"/>
          </a:p>
        </p:txBody>
      </p:sp>
      <p:sp>
        <p:nvSpPr>
          <p:cNvPr id="4" name="Text 2"/>
          <p:cNvSpPr/>
          <p:nvPr/>
        </p:nvSpPr>
        <p:spPr>
          <a:xfrm>
            <a:off x="530352" y="438912"/>
            <a:ext cx="5029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 ПРОБЛЕМЫ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касается сотен тысяч школьников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444752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3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2023/24 учебном году в школах Казахстана обучались 3 819 071 ученик. Из них 1 555 132 - в сельской местности. Только в 10-11 классах было около 402 906 учеников, а выпускников 11 класса - около 186 тысяч. Это значит, что ежегодно огромная группа школьников одновременно принимает решения о будущем обучении, но не у всех есть доступ к качественной навигационной поддержке.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03504" y="2926080"/>
            <a:ext cx="2971800" cy="1170432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118104"/>
            <a:ext cx="2569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 млн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3584448"/>
            <a:ext cx="2569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школьников в системе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3858768" y="2926080"/>
            <a:ext cx="2971800" cy="1170432"/>
          </a:xfrm>
          <a:prstGeom prst="roundRect">
            <a:avLst>
              <a:gd name="adj" fmla="val 6250"/>
            </a:avLst>
          </a:prstGeom>
          <a:solidFill>
            <a:srgbClr val="EAF8F1"/>
          </a:solidFill>
          <a:ln w="12700">
            <a:solidFill>
              <a:srgbClr val="CAEE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59936" y="3118104"/>
            <a:ext cx="2569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8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1.56 млн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059936" y="3584448"/>
            <a:ext cx="2569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сельских школьников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7114032" y="2926080"/>
            <a:ext cx="2971800" cy="1170432"/>
          </a:xfrm>
          <a:prstGeom prst="roundRect">
            <a:avLst>
              <a:gd name="adj" fmla="val 6250"/>
            </a:avLst>
          </a:prstGeom>
          <a:solidFill>
            <a:srgbClr val="E7EE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3118104"/>
            <a:ext cx="2569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1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~403 тыс.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0" y="3584448"/>
            <a:ext cx="2569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учеников 10-11 классов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7479792" y="1517904"/>
            <a:ext cx="3547872" cy="1170432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35824" y="17190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Казахстан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8047452" y="2196755"/>
            <a:ext cx="164592" cy="164592"/>
          </a:xfrm>
          <a:prstGeom prst="ellipse">
            <a:avLst/>
          </a:prstGeom>
          <a:solidFill>
            <a:srgbClr val="3147FF"/>
          </a:solidFill>
          <a:ln w="12700">
            <a:solidFill>
              <a:srgbClr val="3147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15111" y="1986077"/>
            <a:ext cx="118872" cy="118872"/>
          </a:xfrm>
          <a:prstGeom prst="ellipse">
            <a:avLst/>
          </a:prstGeom>
          <a:solidFill>
            <a:srgbClr val="12845B"/>
          </a:solidFill>
          <a:ln w="12700">
            <a:solidFill>
              <a:srgbClr val="12845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11460" y="2260763"/>
            <a:ext cx="567660" cy="-210678"/>
          </a:xfrm>
          <a:prstGeom prst="line">
            <a:avLst/>
          </a:prstGeom>
          <a:noFill/>
          <a:ln w="9525">
            <a:solidFill>
              <a:srgbClr val="CCD6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4685" y="2243572"/>
            <a:ext cx="118872" cy="118872"/>
          </a:xfrm>
          <a:prstGeom prst="ellipse">
            <a:avLst/>
          </a:prstGeom>
          <a:solidFill>
            <a:srgbClr val="3147FF"/>
          </a:solidFill>
          <a:ln w="12700">
            <a:solidFill>
              <a:srgbClr val="3147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79119" y="2050085"/>
            <a:ext cx="709574" cy="257495"/>
          </a:xfrm>
          <a:prstGeom prst="line">
            <a:avLst/>
          </a:prstGeom>
          <a:noFill/>
          <a:ln w="9525">
            <a:solidFill>
              <a:srgbClr val="CCD6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21388" y="2044598"/>
            <a:ext cx="164592" cy="164592"/>
          </a:xfrm>
          <a:prstGeom prst="ellipse">
            <a:avLst/>
          </a:prstGeom>
          <a:solidFill>
            <a:srgbClr val="12845B"/>
          </a:solidFill>
          <a:ln w="12700">
            <a:solidFill>
              <a:srgbClr val="12845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88693" y="2307580"/>
            <a:ext cx="496702" cy="-198973"/>
          </a:xfrm>
          <a:prstGeom prst="line">
            <a:avLst/>
          </a:prstGeom>
          <a:noFill/>
          <a:ln w="9525">
            <a:solidFill>
              <a:srgbClr val="CCD6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18090" y="2337206"/>
            <a:ext cx="118872" cy="118872"/>
          </a:xfrm>
          <a:prstGeom prst="ellipse">
            <a:avLst/>
          </a:prstGeom>
          <a:solidFill>
            <a:srgbClr val="3147FF"/>
          </a:solidFill>
          <a:ln w="12700">
            <a:solidFill>
              <a:srgbClr val="3147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85396" y="2108606"/>
            <a:ext cx="496702" cy="292608"/>
          </a:xfrm>
          <a:prstGeom prst="line">
            <a:avLst/>
          </a:prstGeom>
          <a:noFill/>
          <a:ln w="9525">
            <a:solidFill>
              <a:srgbClr val="CCD6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743834" y="2009485"/>
            <a:ext cx="118872" cy="118872"/>
          </a:xfrm>
          <a:prstGeom prst="ellipse">
            <a:avLst/>
          </a:prstGeom>
          <a:solidFill>
            <a:srgbClr val="12845B"/>
          </a:solidFill>
          <a:ln w="12700">
            <a:solidFill>
              <a:srgbClr val="1284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82098" y="2401214"/>
            <a:ext cx="425745" cy="-327721"/>
          </a:xfrm>
          <a:prstGeom prst="line">
            <a:avLst/>
          </a:prstGeom>
          <a:noFill/>
          <a:ln w="9525">
            <a:solidFill>
              <a:srgbClr val="CCD6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44154" y="2477658"/>
            <a:ext cx="164592" cy="164592"/>
          </a:xfrm>
          <a:prstGeom prst="ellipse">
            <a:avLst/>
          </a:prstGeom>
          <a:solidFill>
            <a:srgbClr val="12845B"/>
          </a:solidFill>
          <a:ln w="12700">
            <a:solidFill>
              <a:srgbClr val="12845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07842" y="2073493"/>
            <a:ext cx="-2199681" cy="468173"/>
          </a:xfrm>
          <a:prstGeom prst="line">
            <a:avLst/>
          </a:prstGeom>
          <a:noFill/>
          <a:ln w="9525">
            <a:solidFill>
              <a:srgbClr val="CCD6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53728" y="2547884"/>
            <a:ext cx="118872" cy="118872"/>
          </a:xfrm>
          <a:prstGeom prst="ellipse">
            <a:avLst/>
          </a:prstGeom>
          <a:solidFill>
            <a:srgbClr val="3147FF"/>
          </a:solidFill>
          <a:ln w="12700">
            <a:solidFill>
              <a:srgbClr val="3147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08162" y="2541666"/>
            <a:ext cx="709574" cy="70226"/>
          </a:xfrm>
          <a:prstGeom prst="line">
            <a:avLst/>
          </a:prstGeom>
          <a:noFill/>
          <a:ln w="9525">
            <a:solidFill>
              <a:srgbClr val="CCD6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63302" y="2501067"/>
            <a:ext cx="118872" cy="118872"/>
          </a:xfrm>
          <a:prstGeom prst="ellipse">
            <a:avLst/>
          </a:prstGeom>
          <a:solidFill>
            <a:srgbClr val="12845B"/>
          </a:solidFill>
          <a:ln w="12700">
            <a:solidFill>
              <a:srgbClr val="12845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317736" y="2611892"/>
            <a:ext cx="709574" cy="-46817"/>
          </a:xfrm>
          <a:prstGeom prst="line">
            <a:avLst/>
          </a:prstGeom>
          <a:noFill/>
          <a:ln w="9525">
            <a:solidFill>
              <a:srgbClr val="CCD6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672877" y="2571293"/>
            <a:ext cx="164592" cy="164592"/>
          </a:xfrm>
          <a:prstGeom prst="ellipse">
            <a:avLst/>
          </a:prstGeom>
          <a:solidFill>
            <a:srgbClr val="3147FF"/>
          </a:solidFill>
          <a:ln w="12700">
            <a:solidFill>
              <a:srgbClr val="3147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27310" y="2565075"/>
            <a:ext cx="709574" cy="70226"/>
          </a:xfrm>
          <a:prstGeom prst="line">
            <a:avLst/>
          </a:prstGeom>
          <a:noFill/>
          <a:ln w="9525">
            <a:solidFill>
              <a:srgbClr val="CCD6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729216" y="2340864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7EEFF"/>
          </a:solidFill>
          <a:ln w="12700">
            <a:solidFill>
              <a:srgbClr val="E7EE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93224" y="240944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1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город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10369296" y="2340864"/>
            <a:ext cx="530352" cy="256032"/>
          </a:xfrm>
          <a:prstGeom prst="roundRect">
            <a:avLst>
              <a:gd name="adj" fmla="val 28571"/>
            </a:avLst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433304" y="2409444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28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село</a:t>
            </a:r>
            <a:endParaRPr lang="en-US" sz="740" dirty="0"/>
          </a:p>
        </p:txBody>
      </p:sp>
      <p:sp>
        <p:nvSpPr>
          <p:cNvPr id="41" name="Text 39"/>
          <p:cNvSpPr/>
          <p:nvPr/>
        </p:nvSpPr>
        <p:spPr>
          <a:xfrm>
            <a:off x="640080" y="4828032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Расчет: 10 класс 217 268 + 11 класс 185 638 = 402 906.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645566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5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786384" y="64282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OECD Skills Strategy Kazakhstan, p.134; таблицы БНС по школьной сети, 2023/24.</a:t>
            </a:r>
            <a:endParaRPr lang="en-US" sz="690" dirty="0"/>
          </a:p>
        </p:txBody>
      </p:sp>
      <p:sp>
        <p:nvSpPr>
          <p:cNvPr id="4" name="Text 2"/>
          <p:cNvSpPr/>
          <p:nvPr/>
        </p:nvSpPr>
        <p:spPr>
          <a:xfrm>
            <a:off x="530352" y="438912"/>
            <a:ext cx="5029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РАЗРЫВ В ПОДДЕРЖКЕ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всем школьникам доступна одинаковая помощь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4041648" cy="3639312"/>
          </a:xfrm>
          <a:prstGeom prst="roundRect">
            <a:avLst>
              <a:gd name="adj" fmla="val 2010"/>
            </a:avLst>
          </a:prstGeom>
          <a:solidFill>
            <a:srgbClr val="F8FA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6654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978408" y="2889504"/>
            <a:ext cx="3054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80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школьной сети страны составляют сельские школы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914400" y="4005072"/>
            <a:ext cx="585216" cy="421356"/>
          </a:xfrm>
          <a:prstGeom prst="homePlate">
            <a:avLst/>
          </a:prstGeom>
          <a:solidFill>
            <a:srgbClr val="FFFFFF">
              <a:alpha val="0"/>
            </a:srgbClr>
          </a:solidFill>
          <a:ln w="17780">
            <a:solidFill>
              <a:srgbClr val="12845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2922" y="4220870"/>
            <a:ext cx="468173" cy="0"/>
          </a:xfrm>
          <a:prstGeom prst="line">
            <a:avLst/>
          </a:prstGeom>
          <a:noFill/>
          <a:ln w="15240">
            <a:solidFill>
              <a:srgbClr val="1284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" y="4408140"/>
            <a:ext cx="0" cy="-163860"/>
          </a:xfrm>
          <a:prstGeom prst="line">
            <a:avLst/>
          </a:prstGeom>
          <a:noFill/>
          <a:ln w="15240">
            <a:solidFill>
              <a:srgbClr val="1284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07008" y="4408140"/>
            <a:ext cx="0" cy="-163860"/>
          </a:xfrm>
          <a:prstGeom prst="line">
            <a:avLst/>
          </a:prstGeom>
          <a:noFill/>
          <a:ln w="15240">
            <a:solidFill>
              <a:srgbClr val="1284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53312" y="4408140"/>
            <a:ext cx="0" cy="-163860"/>
          </a:xfrm>
          <a:prstGeom prst="line">
            <a:avLst/>
          </a:prstGeom>
          <a:noFill/>
          <a:ln w="15240">
            <a:solidFill>
              <a:srgbClr val="1284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49424" y="4081882"/>
            <a:ext cx="93635" cy="93635"/>
          </a:xfrm>
          <a:prstGeom prst="ellipse">
            <a:avLst/>
          </a:prstGeom>
          <a:solidFill>
            <a:srgbClr val="3147FF"/>
          </a:solidFill>
          <a:ln w="12700">
            <a:solidFill>
              <a:srgbClr val="3147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19650" y="4128699"/>
            <a:ext cx="409651" cy="257495"/>
          </a:xfrm>
          <a:prstGeom prst="line">
            <a:avLst/>
          </a:prstGeom>
          <a:noFill/>
          <a:ln w="15240">
            <a:solidFill>
              <a:srgbClr val="3147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00040" y="4362785"/>
            <a:ext cx="117043" cy="117043"/>
          </a:xfrm>
          <a:prstGeom prst="ellipse">
            <a:avLst/>
          </a:prstGeom>
          <a:solidFill>
            <a:srgbClr val="3147FF"/>
          </a:solidFill>
          <a:ln w="12700">
            <a:solidFill>
              <a:srgbClr val="3147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84448" y="3968496"/>
            <a:ext cx="585216" cy="58521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84448" y="4062131"/>
            <a:ext cx="585216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5309"/>
                </a:solidFill>
              </a:rPr>
              <a:t>?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230368" y="1627632"/>
            <a:ext cx="6035040" cy="3639312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96128" y="2011680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ЦИТАТА OECD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5596128" y="241401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"Школы обычно не предоставляют карьерное консультирование."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596128" y="3236976"/>
            <a:ext cx="4956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OECD также отмечает, что карьерное консультирование в Казахстане в основном дают центры занятости и частные агентства. Это создает практический разрыв для учеников, которым нужна регулярная, понятная и качественная помощь.</a:t>
            </a:r>
            <a:endParaRPr lang="en-US" sz="1360" dirty="0"/>
          </a:p>
        </p:txBody>
      </p:sp>
      <p:sp>
        <p:nvSpPr>
          <p:cNvPr id="23" name="Text 21"/>
          <p:cNvSpPr/>
          <p:nvPr/>
        </p:nvSpPr>
        <p:spPr>
          <a:xfrm>
            <a:off x="5596128" y="46268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b="1" dirty="0">
                <a:solidFill>
                  <a:srgbClr val="111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ApplyMap закрывает этот разрыв как цифровой слой навигации по поступлению.</a:t>
            </a:r>
            <a:endParaRPr lang="en-US" sz="13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645566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5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786384" y="64282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World Bank на основе UNESCO UIS; отчет Open Doors Kazakhstan 2024.</a:t>
            </a:r>
            <a:endParaRPr lang="en-US" sz="690" dirty="0"/>
          </a:p>
        </p:txBody>
      </p:sp>
      <p:sp>
        <p:nvSpPr>
          <p:cNvPr id="4" name="Text 2"/>
          <p:cNvSpPr/>
          <p:nvPr/>
        </p:nvSpPr>
        <p:spPr>
          <a:xfrm>
            <a:off x="530352" y="438912"/>
            <a:ext cx="5029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МЕЖДУНАРОДНАЯ ТРАЕКТОРИЯ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8961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Международная образовательная траектория уже массовая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Казахстан уже давно не ограничивается только внутренними траекториями. По данным World Bank на основе UNESCO UIS, у Казахстана было 90 333 студента высшего образования за рубежом, при этом 78% из них учились в России. По данным Open Doors, число студентов из Казахстана в США выросло с 2 440 в 2022/23 до 2 712 в 2023/24.</a:t>
            </a:r>
            <a:endParaRPr lang="en-US" sz="1420" dirty="0"/>
          </a:p>
        </p:txBody>
      </p:sp>
      <p:sp>
        <p:nvSpPr>
          <p:cNvPr id="7" name="Shape 5"/>
          <p:cNvSpPr/>
          <p:nvPr/>
        </p:nvSpPr>
        <p:spPr>
          <a:xfrm>
            <a:off x="676656" y="2816352"/>
            <a:ext cx="5285232" cy="1426464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0906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40" b="1" dirty="0">
                <a:solidFill>
                  <a:srgbClr val="111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90 333 студента за рубежом</a:t>
            </a:r>
            <a:endParaRPr lang="en-US" sz="1740" dirty="0"/>
          </a:p>
        </p:txBody>
      </p:sp>
      <p:sp>
        <p:nvSpPr>
          <p:cNvPr id="9" name="Shape 7"/>
          <p:cNvSpPr/>
          <p:nvPr/>
        </p:nvSpPr>
        <p:spPr>
          <a:xfrm>
            <a:off x="932688" y="3621024"/>
            <a:ext cx="42976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3621024"/>
            <a:ext cx="3346704" cy="164592"/>
          </a:xfrm>
          <a:prstGeom prst="rect">
            <a:avLst/>
          </a:prstGeom>
          <a:solidFill>
            <a:srgbClr val="12845B"/>
          </a:solidFill>
          <a:ln w="12700">
            <a:solidFill>
              <a:srgbClr val="1284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7408" y="3840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128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 Россия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6510528" y="2816352"/>
            <a:ext cx="4526280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48272" y="30906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Студенты из Казахстана в США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6766560" y="3913632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2,440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9710928" y="305409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111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2,712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7333488" y="3785616"/>
            <a:ext cx="2560320" cy="-402336"/>
          </a:xfrm>
          <a:prstGeom prst="line">
            <a:avLst/>
          </a:prstGeom>
          <a:noFill/>
          <a:ln w="27940">
            <a:solidFill>
              <a:srgbClr val="3147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0336" y="3712464"/>
            <a:ext cx="146304" cy="146304"/>
          </a:xfrm>
          <a:prstGeom prst="ellipse">
            <a:avLst/>
          </a:prstGeom>
          <a:solidFill>
            <a:srgbClr val="3147FF"/>
          </a:solidFill>
          <a:ln w="12700">
            <a:solidFill>
              <a:srgbClr val="3147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20656" y="3310128"/>
            <a:ext cx="146304" cy="146304"/>
          </a:xfrm>
          <a:prstGeom prst="ellipse">
            <a:avLst/>
          </a:prstGeom>
          <a:solidFill>
            <a:srgbClr val="3147FF"/>
          </a:solidFill>
          <a:ln w="12700">
            <a:solidFill>
              <a:srgbClr val="314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3986784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2022/23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9546336" y="3986784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2023/24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7315200" y="499262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Казахстан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8257032" y="5065776"/>
            <a:ext cx="804672" cy="0"/>
          </a:xfrm>
          <a:prstGeom prst="line">
            <a:avLst/>
          </a:prstGeom>
          <a:noFill/>
          <a:ln w="15240">
            <a:solidFill>
              <a:srgbClr val="D9E0EC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9180576" y="499262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Россия / США / другие направления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645566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5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786384" y="64282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синтез проблемы из предоставленного PDF и стратегии ApplyMap.</a:t>
            </a:r>
            <a:endParaRPr lang="en-US" sz="690" dirty="0"/>
          </a:p>
        </p:txBody>
      </p:sp>
      <p:sp>
        <p:nvSpPr>
          <p:cNvPr id="4" name="Text 2"/>
          <p:cNvSpPr/>
          <p:nvPr/>
        </p:nvSpPr>
        <p:spPr>
          <a:xfrm>
            <a:off x="530352" y="438912"/>
            <a:ext cx="5029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УЧЕНИКА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Сильные ученики теряются не из-за отсутствия потенциала, а из-за хаоса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5727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многих школьников уже есть реальные достижения: олимпиады, проекты, волонтерство, семейные обязанности, школьные инициативы. Но эти факты разбросаны по PDF, грамотам, чатам и заметкам.</a:t>
            </a:r>
            <a:endParaRPr lang="en-US" sz="1420" dirty="0"/>
          </a:p>
        </p:txBody>
      </p:sp>
      <p:sp>
        <p:nvSpPr>
          <p:cNvPr id="7" name="Shape 5"/>
          <p:cNvSpPr/>
          <p:nvPr/>
        </p:nvSpPr>
        <p:spPr>
          <a:xfrm>
            <a:off x="749808" y="2743200"/>
            <a:ext cx="1078992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44368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ГРАМОТЫ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олимпиады / конкурсы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2194560" y="2743200"/>
            <a:ext cx="1078992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9152" y="2944368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ЧАТЫ</a:t>
            </a:r>
            <a:endParaRPr lang="en-US" sz="730" dirty="0"/>
          </a:p>
        </p:txBody>
      </p:sp>
      <p:sp>
        <p:nvSpPr>
          <p:cNvPr id="12" name="Text 10"/>
          <p:cNvSpPr/>
          <p:nvPr/>
        </p:nvSpPr>
        <p:spPr>
          <a:xfrm>
            <a:off x="2359152" y="320040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проекты / договоренности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3639312" y="2743200"/>
            <a:ext cx="1078992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03904" y="2944368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ЗАМЕТКИ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3803904" y="320040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черновики опыта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5084064" y="2743200"/>
            <a:ext cx="1078992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48656" y="2944368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ДЕДЛАЙНЫ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5248656" y="320040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даты и требования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6473952" y="3182112"/>
            <a:ext cx="566928" cy="0"/>
          </a:xfrm>
          <a:prstGeom prst="line">
            <a:avLst/>
          </a:prstGeom>
          <a:noFill/>
          <a:ln w="22860">
            <a:solidFill>
              <a:srgbClr val="D9E0E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205472" y="2487168"/>
            <a:ext cx="1417320" cy="1389888"/>
          </a:xfrm>
          <a:prstGeom prst="roundRect">
            <a:avLst>
              <a:gd name="adj" fmla="val 5263"/>
            </a:avLst>
          </a:prstGeom>
          <a:solidFill>
            <a:srgbClr val="FFF7E6"/>
          </a:solidFill>
          <a:ln w="12700">
            <a:solidFill>
              <a:srgbClr val="F4D1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34072" y="2944368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хаос</a:t>
            </a:r>
            <a:endParaRPr lang="en-US" sz="1850" dirty="0"/>
          </a:p>
        </p:txBody>
      </p:sp>
      <p:sp>
        <p:nvSpPr>
          <p:cNvPr id="22" name="Shape 20"/>
          <p:cNvSpPr/>
          <p:nvPr/>
        </p:nvSpPr>
        <p:spPr>
          <a:xfrm>
            <a:off x="8814816" y="3182112"/>
            <a:ext cx="566928" cy="0"/>
          </a:xfrm>
          <a:prstGeom prst="line">
            <a:avLst/>
          </a:prstGeom>
          <a:noFill/>
          <a:ln w="22860">
            <a:solidFill>
              <a:srgbClr val="D9E0E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582912" y="2487168"/>
            <a:ext cx="1691640" cy="1389888"/>
          </a:xfrm>
          <a:prstGeom prst="roundRect">
            <a:avLst>
              <a:gd name="adj" fmla="val 5263"/>
            </a:avLst>
          </a:prstGeom>
          <a:solidFill>
            <a:srgbClr val="FFF1F0"/>
          </a:solidFill>
          <a:ln w="12700">
            <a:solidFill>
              <a:srgbClr val="FBC9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20656" y="2816352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слабая заявка</a:t>
            </a:r>
            <a:endParaRPr lang="en-US" sz="1420" dirty="0"/>
          </a:p>
        </p:txBody>
      </p:sp>
      <p:sp>
        <p:nvSpPr>
          <p:cNvPr id="25" name="Text 23"/>
          <p:cNvSpPr/>
          <p:nvPr/>
        </p:nvSpPr>
        <p:spPr>
          <a:xfrm>
            <a:off x="9829800" y="331012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ошибки в выборе и подаче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749808" y="4773168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3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Ученик не понимает, что считать сильным сигналом, как описать опыт на английском, какие университеты подходят и на что не стоит тратить время.</a:t>
            </a:r>
            <a:endParaRPr lang="en-US" sz="15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645566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5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786384" y="64282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локальный README и текущий scope продукта.</a:t>
            </a:r>
            <a:endParaRPr lang="en-US" sz="690" dirty="0"/>
          </a:p>
        </p:txBody>
      </p:sp>
      <p:sp>
        <p:nvSpPr>
          <p:cNvPr id="4" name="Text 2"/>
          <p:cNvSpPr/>
          <p:nvPr/>
        </p:nvSpPr>
        <p:spPr>
          <a:xfrm>
            <a:off x="530352" y="438912"/>
            <a:ext cx="5029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ApplyMap превращает хаос достижений в понятную карту поступления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499616"/>
            <a:ext cx="6446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ApplyMap помогает школьнику собрать достижения в одном месте, выделить сильнейшие активности и награды, оформить их в понятный для заявки формат и получить реалистичный список университетов. Платформа не обещает поступление и не выдумывает достижения.</a:t>
            </a:r>
            <a:endParaRPr lang="en-US" sz="1420" dirty="0"/>
          </a:p>
        </p:txBody>
      </p:sp>
      <p:sp>
        <p:nvSpPr>
          <p:cNvPr id="7" name="Shape 5"/>
          <p:cNvSpPr/>
          <p:nvPr/>
        </p:nvSpPr>
        <p:spPr>
          <a:xfrm>
            <a:off x="676656" y="2834640"/>
            <a:ext cx="2267712" cy="1417320"/>
          </a:xfrm>
          <a:prstGeom prst="roundRect">
            <a:avLst>
              <a:gd name="adj" fmla="val 5161"/>
            </a:avLst>
          </a:prstGeom>
          <a:solidFill>
            <a:srgbClr val="E7EE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77824" y="3090672"/>
            <a:ext cx="384048" cy="384048"/>
          </a:xfrm>
          <a:prstGeom prst="ellipse">
            <a:avLst/>
          </a:prstGeom>
          <a:solidFill>
            <a:srgbClr val="11135F"/>
          </a:solidFill>
          <a:ln w="12700">
            <a:solidFill>
              <a:srgbClr val="1113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320040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89888" y="314553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Собрать профиль</a:t>
            </a:r>
            <a:endParaRPr lang="en-US" sz="1480" dirty="0"/>
          </a:p>
        </p:txBody>
      </p:sp>
      <p:sp>
        <p:nvSpPr>
          <p:cNvPr id="11" name="Shape 9"/>
          <p:cNvSpPr/>
          <p:nvPr/>
        </p:nvSpPr>
        <p:spPr>
          <a:xfrm>
            <a:off x="3017520" y="3547872"/>
            <a:ext cx="438912" cy="0"/>
          </a:xfrm>
          <a:prstGeom prst="line">
            <a:avLst/>
          </a:prstGeom>
          <a:noFill/>
          <a:ln w="15240">
            <a:solidFill>
              <a:srgbClr val="D9E0E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65576" y="2834640"/>
            <a:ext cx="22677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66744" y="3090672"/>
            <a:ext cx="384048" cy="384048"/>
          </a:xfrm>
          <a:prstGeom prst="ellipse">
            <a:avLst/>
          </a:prstGeom>
          <a:solidFill>
            <a:srgbClr val="11135F"/>
          </a:solidFill>
          <a:ln w="12700">
            <a:solidFill>
              <a:srgbClr val="1113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66744" y="320040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78808" y="314553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факты</a:t>
            </a:r>
            <a:endParaRPr lang="en-US" sz="1480" dirty="0"/>
          </a:p>
        </p:txBody>
      </p:sp>
      <p:sp>
        <p:nvSpPr>
          <p:cNvPr id="16" name="Shape 14"/>
          <p:cNvSpPr/>
          <p:nvPr/>
        </p:nvSpPr>
        <p:spPr>
          <a:xfrm>
            <a:off x="5806440" y="3547872"/>
            <a:ext cx="438912" cy="0"/>
          </a:xfrm>
          <a:prstGeom prst="line">
            <a:avLst/>
          </a:prstGeom>
          <a:noFill/>
          <a:ln w="15240">
            <a:solidFill>
              <a:srgbClr val="D9E0E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54496" y="2834640"/>
            <a:ext cx="22677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55664" y="3090672"/>
            <a:ext cx="384048" cy="384048"/>
          </a:xfrm>
          <a:prstGeom prst="ellipse">
            <a:avLst/>
          </a:prstGeom>
          <a:solidFill>
            <a:srgbClr val="11135F"/>
          </a:solidFill>
          <a:ln w="12700">
            <a:solidFill>
              <a:srgbClr val="1113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5664" y="320040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967728" y="314553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Оформить достижения</a:t>
            </a:r>
            <a:endParaRPr lang="en-US" sz="1480" dirty="0"/>
          </a:p>
        </p:txBody>
      </p:sp>
      <p:sp>
        <p:nvSpPr>
          <p:cNvPr id="21" name="Shape 19"/>
          <p:cNvSpPr/>
          <p:nvPr/>
        </p:nvSpPr>
        <p:spPr>
          <a:xfrm>
            <a:off x="8595360" y="3547872"/>
            <a:ext cx="438912" cy="0"/>
          </a:xfrm>
          <a:prstGeom prst="line">
            <a:avLst/>
          </a:prstGeom>
          <a:noFill/>
          <a:ln w="15240">
            <a:solidFill>
              <a:srgbClr val="D9E0E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43416" y="2834640"/>
            <a:ext cx="22677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44584" y="3090672"/>
            <a:ext cx="384048" cy="384048"/>
          </a:xfrm>
          <a:prstGeom prst="ellipse">
            <a:avLst/>
          </a:prstGeom>
          <a:solidFill>
            <a:srgbClr val="11135F"/>
          </a:solidFill>
          <a:ln w="12700">
            <a:solidFill>
              <a:srgbClr val="1113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44584" y="320040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756648" y="314553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Подобрать университеты</a:t>
            </a:r>
            <a:endParaRPr lang="en-US" sz="1480" dirty="0"/>
          </a:p>
        </p:txBody>
      </p:sp>
      <p:sp>
        <p:nvSpPr>
          <p:cNvPr id="26" name="Shape 24"/>
          <p:cNvSpPr/>
          <p:nvPr/>
        </p:nvSpPr>
        <p:spPr>
          <a:xfrm>
            <a:off x="7333488" y="1572768"/>
            <a:ext cx="3950208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71232" y="184708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111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принцип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7571232" y="215798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реальные факты, ясная структура, следующий шаг с источниками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645566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5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786384" y="64282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локальный README и API-сервисы правил, Gemini и поиска.</a:t>
            </a:r>
            <a:endParaRPr lang="en-US" sz="690" dirty="0"/>
          </a:p>
        </p:txBody>
      </p:sp>
      <p:sp>
        <p:nvSpPr>
          <p:cNvPr id="4" name="Text 2"/>
          <p:cNvSpPr/>
          <p:nvPr/>
        </p:nvSpPr>
        <p:spPr>
          <a:xfrm>
            <a:off x="530352" y="438912"/>
            <a:ext cx="5029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ТЕХНОЛОГИЯ ВНУТРИ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в решении используется STEM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444752"/>
            <a:ext cx="6126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основан на программировании, анализе данных и элементах искусственного интеллекта. STEM в ApplyMap - это не просто чат-бот, а сочетание инженерии продукта, анализа данных и ИИ для решения социальной проблемы.</a:t>
            </a:r>
            <a:endParaRPr lang="en-US" sz="1440" dirty="0"/>
          </a:p>
        </p:txBody>
      </p:sp>
      <p:sp>
        <p:nvSpPr>
          <p:cNvPr id="7" name="Shape 5"/>
          <p:cNvSpPr/>
          <p:nvPr/>
        </p:nvSpPr>
        <p:spPr>
          <a:xfrm>
            <a:off x="822960" y="2761488"/>
            <a:ext cx="162763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3008376"/>
            <a:ext cx="140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 ученика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450592" y="3118104"/>
            <a:ext cx="493776" cy="0"/>
          </a:xfrm>
          <a:prstGeom prst="line">
            <a:avLst/>
          </a:prstGeom>
          <a:noFill/>
          <a:ln w="15240">
            <a:solidFill>
              <a:srgbClr val="D9E0E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44368" y="2761488"/>
            <a:ext cx="162763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54096" y="3008376"/>
            <a:ext cx="140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Хранилище достижений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572000" y="3118104"/>
            <a:ext cx="749808" cy="0"/>
          </a:xfrm>
          <a:prstGeom prst="line">
            <a:avLst/>
          </a:prstGeom>
          <a:noFill/>
          <a:ln w="15240">
            <a:solidFill>
              <a:srgbClr val="D9E0E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21808" y="2761488"/>
            <a:ext cx="1627632" cy="713232"/>
          </a:xfrm>
          <a:prstGeom prst="roundRect">
            <a:avLst>
              <a:gd name="adj" fmla="val 10256"/>
            </a:avLst>
          </a:prstGeom>
          <a:solidFill>
            <a:srgbClr val="11135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31536" y="3008376"/>
            <a:ext cx="140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+ правила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949440" y="3118104"/>
            <a:ext cx="402336" cy="0"/>
          </a:xfrm>
          <a:prstGeom prst="line">
            <a:avLst/>
          </a:prstGeom>
          <a:noFill/>
          <a:ln w="15240">
            <a:solidFill>
              <a:srgbClr val="D9E0E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51776" y="2761488"/>
            <a:ext cx="1965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61504" y="3008376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 вузов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9317736" y="3118104"/>
            <a:ext cx="576072" cy="0"/>
          </a:xfrm>
          <a:prstGeom prst="line">
            <a:avLst/>
          </a:prstGeom>
          <a:noFill/>
          <a:ln w="15240">
            <a:solidFill>
              <a:srgbClr val="D9E0E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893808" y="2761488"/>
            <a:ext cx="162763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03536" y="3008376"/>
            <a:ext cx="140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Отчет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914400" y="42702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31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1170432" y="4261104"/>
            <a:ext cx="9162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классифицирует достижения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914400" y="458114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31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1170432" y="4572000"/>
            <a:ext cx="9162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выявляет повторы и пробелы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914400" y="48920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31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1170432" y="4882896"/>
            <a:ext cx="9162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задает уточняющие вопросы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914400" y="52029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31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260" dirty="0"/>
          </a:p>
        </p:txBody>
      </p:sp>
      <p:sp>
        <p:nvSpPr>
          <p:cNvPr id="28" name="Text 26"/>
          <p:cNvSpPr/>
          <p:nvPr/>
        </p:nvSpPr>
        <p:spPr>
          <a:xfrm>
            <a:off x="1170432" y="5193792"/>
            <a:ext cx="9162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связывает профиль с требованиями университетов</a:t>
            </a:r>
            <a:endParaRPr lang="en-US" sz="1260" dirty="0"/>
          </a:p>
        </p:txBody>
      </p:sp>
      <p:sp>
        <p:nvSpPr>
          <p:cNvPr id="29" name="Text 27"/>
          <p:cNvSpPr/>
          <p:nvPr/>
        </p:nvSpPr>
        <p:spPr>
          <a:xfrm>
            <a:off x="914400" y="551383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31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260" dirty="0"/>
          </a:p>
        </p:txBody>
      </p:sp>
      <p:sp>
        <p:nvSpPr>
          <p:cNvPr id="30" name="Text 28"/>
          <p:cNvSpPr/>
          <p:nvPr/>
        </p:nvSpPr>
        <p:spPr>
          <a:xfrm>
            <a:off x="1170432" y="5504688"/>
            <a:ext cx="9162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показывает проверяемый результат</a:t>
            </a:r>
            <a:endParaRPr lang="en-US" sz="12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645566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5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786384" y="64282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локальный README и текущая web/API-реализация.</a:t>
            </a:r>
            <a:endParaRPr lang="en-US" sz="690" dirty="0"/>
          </a:p>
        </p:txBody>
      </p:sp>
      <p:sp>
        <p:nvSpPr>
          <p:cNvPr id="4" name="Text 2"/>
          <p:cNvSpPr/>
          <p:nvPr/>
        </p:nvSpPr>
        <p:spPr>
          <a:xfrm>
            <a:off x="530352" y="438912"/>
            <a:ext cx="5029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РАБОЧИЙ MVP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нас уже есть рабочий MVP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44475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MVP реализованы ключевые части продукта: хранилище достижений, прозрачный ход работы ИИ, студия формулировок и советник по вузам. Это уже работающий прототип, который можно улучшать и тестировать на реальных школьниках.</a:t>
            </a:r>
            <a:endParaRPr lang="en-US" sz="1440" dirty="0"/>
          </a:p>
        </p:txBody>
      </p:sp>
      <p:sp>
        <p:nvSpPr>
          <p:cNvPr id="7" name="Shape 5"/>
          <p:cNvSpPr/>
          <p:nvPr/>
        </p:nvSpPr>
        <p:spPr>
          <a:xfrm>
            <a:off x="713232" y="2633472"/>
            <a:ext cx="4992624" cy="1207008"/>
          </a:xfrm>
          <a:prstGeom prst="roundRect">
            <a:avLst>
              <a:gd name="adj" fmla="val 6061"/>
            </a:avLst>
          </a:prstGeom>
          <a:solidFill>
            <a:srgbClr val="E7EE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50976" y="288950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463040" y="28529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Хранилище достижений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1463040" y="32369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активности и награды в одном месте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5029200" y="2926080"/>
            <a:ext cx="384048" cy="109728"/>
          </a:xfrm>
          <a:prstGeom prst="rect">
            <a:avLst/>
          </a:prstGeom>
          <a:solidFill>
            <a:srgbClr val="3147FF"/>
          </a:solidFill>
          <a:ln w="12700">
            <a:solidFill>
              <a:srgbClr val="3147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3163824"/>
            <a:ext cx="530352" cy="109728"/>
          </a:xfrm>
          <a:prstGeom prst="rect">
            <a:avLst/>
          </a:prstGeom>
          <a:solidFill>
            <a:srgbClr val="12845B"/>
          </a:solidFill>
          <a:ln w="12700">
            <a:solidFill>
              <a:srgbClr val="1284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3401568"/>
            <a:ext cx="292608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7648" y="2633472"/>
            <a:ext cx="4992624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5392" y="288950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7077456" y="28529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Прозрачный ход ИИ</a:t>
            </a:r>
            <a:endParaRPr lang="en-US" sz="1480" dirty="0"/>
          </a:p>
        </p:txBody>
      </p:sp>
      <p:sp>
        <p:nvSpPr>
          <p:cNvPr id="17" name="Text 15"/>
          <p:cNvSpPr/>
          <p:nvPr/>
        </p:nvSpPr>
        <p:spPr>
          <a:xfrm>
            <a:off x="7077456" y="32369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ИИ прочитал, извлек и проверил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10643616" y="2926080"/>
            <a:ext cx="384048" cy="109728"/>
          </a:xfrm>
          <a:prstGeom prst="rect">
            <a:avLst/>
          </a:prstGeom>
          <a:solidFill>
            <a:srgbClr val="3147FF"/>
          </a:solidFill>
          <a:ln w="12700">
            <a:solidFill>
              <a:srgbClr val="3147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43616" y="3163824"/>
            <a:ext cx="530352" cy="109728"/>
          </a:xfrm>
          <a:prstGeom prst="rect">
            <a:avLst/>
          </a:prstGeom>
          <a:solidFill>
            <a:srgbClr val="12845B"/>
          </a:solidFill>
          <a:ln w="12700">
            <a:solidFill>
              <a:srgbClr val="12845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43616" y="3401568"/>
            <a:ext cx="292608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4334256"/>
            <a:ext cx="4992624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459028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1463040" y="455371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Студия формулировок</a:t>
            </a:r>
            <a:endParaRPr lang="en-US" sz="1480" dirty="0"/>
          </a:p>
        </p:txBody>
      </p:sp>
      <p:sp>
        <p:nvSpPr>
          <p:cNvPr id="24" name="Text 22"/>
          <p:cNvSpPr/>
          <p:nvPr/>
        </p:nvSpPr>
        <p:spPr>
          <a:xfrm>
            <a:off x="1463040" y="4937760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краткий английский текст под лимиты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5029200" y="4626864"/>
            <a:ext cx="384048" cy="109728"/>
          </a:xfrm>
          <a:prstGeom prst="rect">
            <a:avLst/>
          </a:prstGeom>
          <a:solidFill>
            <a:srgbClr val="3147FF"/>
          </a:solidFill>
          <a:ln w="12700">
            <a:solidFill>
              <a:srgbClr val="3147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4864608"/>
            <a:ext cx="530352" cy="109728"/>
          </a:xfrm>
          <a:prstGeom prst="rect">
            <a:avLst/>
          </a:prstGeom>
          <a:solidFill>
            <a:srgbClr val="12845B"/>
          </a:solidFill>
          <a:ln w="12700">
            <a:solidFill>
              <a:srgbClr val="12845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5102352"/>
            <a:ext cx="292608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4334256"/>
            <a:ext cx="4992624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65392" y="459028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30" dirty="0"/>
          </a:p>
        </p:txBody>
      </p:sp>
      <p:sp>
        <p:nvSpPr>
          <p:cNvPr id="30" name="Text 28"/>
          <p:cNvSpPr/>
          <p:nvPr/>
        </p:nvSpPr>
        <p:spPr>
          <a:xfrm>
            <a:off x="7077456" y="455371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Советник по вузам</a:t>
            </a:r>
            <a:endParaRPr lang="en-US" sz="1480" dirty="0"/>
          </a:p>
        </p:txBody>
      </p:sp>
      <p:sp>
        <p:nvSpPr>
          <p:cNvPr id="31" name="Text 29"/>
          <p:cNvSpPr/>
          <p:nvPr/>
        </p:nvSpPr>
        <p:spPr>
          <a:xfrm>
            <a:off x="7077456" y="4937760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по выбранному вузу с источниками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10643616" y="4626864"/>
            <a:ext cx="384048" cy="109728"/>
          </a:xfrm>
          <a:prstGeom prst="rect">
            <a:avLst/>
          </a:prstGeom>
          <a:solidFill>
            <a:srgbClr val="3147FF"/>
          </a:solidFill>
          <a:ln w="12700">
            <a:solidFill>
              <a:srgbClr val="3147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43616" y="4864608"/>
            <a:ext cx="530352" cy="109728"/>
          </a:xfrm>
          <a:prstGeom prst="rect">
            <a:avLst/>
          </a:prstGeom>
          <a:solidFill>
            <a:srgbClr val="12845B"/>
          </a:solidFill>
          <a:ln w="12700">
            <a:solidFill>
              <a:srgbClr val="12845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643616" y="5102352"/>
            <a:ext cx="292608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645566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5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786384" y="64282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пример результата на основе целей продукта ApplyMap.</a:t>
            </a:r>
            <a:endParaRPr lang="en-US" sz="690" dirty="0"/>
          </a:p>
        </p:txBody>
      </p:sp>
      <p:sp>
        <p:nvSpPr>
          <p:cNvPr id="4" name="Text 2"/>
          <p:cNvSpPr/>
          <p:nvPr/>
        </p:nvSpPr>
        <p:spPr>
          <a:xfrm>
            <a:off x="530352" y="438912"/>
            <a:ext cx="5029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РЕЗУЛЬТАТА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получает школьник на выходе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44475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помогает превратить сырую запись в структурированный и честный результат для заявки: роль, масштаб, контекст и формулировка на английском.</a:t>
            </a:r>
            <a:endParaRPr lang="en-US" sz="1440" dirty="0"/>
          </a:p>
        </p:txBody>
      </p:sp>
      <p:sp>
        <p:nvSpPr>
          <p:cNvPr id="7" name="Shape 5"/>
          <p:cNvSpPr/>
          <p:nvPr/>
        </p:nvSpPr>
        <p:spPr>
          <a:xfrm>
            <a:off x="713232" y="2487168"/>
            <a:ext cx="4901184" cy="2414016"/>
          </a:xfrm>
          <a:prstGeom prst="roundRect">
            <a:avLst>
              <a:gd name="adj" fmla="val 3030"/>
            </a:avLst>
          </a:prstGeom>
          <a:solidFill>
            <a:srgbClr val="F8FA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81635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987552" y="3218688"/>
            <a:ext cx="40599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был личным ментором для пятерых 8-классников будучи сам 11 классником в 2024-2025 года...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987552" y="4187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Проблема: роль неясна, язык смешан, impact не сформулирован.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5870448" y="3657600"/>
            <a:ext cx="585216" cy="0"/>
          </a:xfrm>
          <a:prstGeom prst="line">
            <a:avLst/>
          </a:prstGeom>
          <a:noFill/>
          <a:ln w="22860">
            <a:solidFill>
              <a:srgbClr val="D9E0E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711696" y="2487168"/>
            <a:ext cx="4754880" cy="241401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04304" y="281635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7004304" y="318211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80" b="1" dirty="0">
                <a:solidFill>
                  <a:srgbClr val="111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Mentor, NIS FMN Almaty</a:t>
            </a:r>
            <a:endParaRPr lang="en-US" sz="1580" dirty="0"/>
          </a:p>
        </p:txBody>
      </p:sp>
      <p:sp>
        <p:nvSpPr>
          <p:cNvPr id="15" name="Text 13"/>
          <p:cNvSpPr/>
          <p:nvPr/>
        </p:nvSpPr>
        <p:spPr>
          <a:xfrm>
            <a:off x="7004304" y="3602736"/>
            <a:ext cx="3767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Mentored five Grade 8 students; co-led two school events with cards and peer support, 2024-25.</a:t>
            </a:r>
            <a:endParaRPr lang="en-US" sz="1480" dirty="0"/>
          </a:p>
        </p:txBody>
      </p:sp>
      <p:sp>
        <p:nvSpPr>
          <p:cNvPr id="16" name="Shape 14"/>
          <p:cNvSpPr/>
          <p:nvPr/>
        </p:nvSpPr>
        <p:spPr>
          <a:xfrm>
            <a:off x="7022592" y="4462272"/>
            <a:ext cx="512064" cy="256032"/>
          </a:xfrm>
          <a:prstGeom prst="roundRect">
            <a:avLst>
              <a:gd name="adj" fmla="val 28571"/>
            </a:avLst>
          </a:prstGeom>
          <a:solidFill>
            <a:srgbClr val="E7EEFF"/>
          </a:solidFill>
          <a:ln w="12700">
            <a:solidFill>
              <a:srgbClr val="E7E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45308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1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7626096" y="4462272"/>
            <a:ext cx="786384" cy="256032"/>
          </a:xfrm>
          <a:prstGeom prst="roundRect">
            <a:avLst>
              <a:gd name="adj" fmla="val 28571"/>
            </a:avLst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90104" y="4530852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28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8540496" y="4462272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04504" y="4530852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</a:t>
            </a:r>
            <a:endParaRPr lang="en-US" sz="7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645566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5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786384" y="64282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БНС SDG 4.a.1; gov.kz по EduNavigator; gov.kz по Mansap Kompasy.</a:t>
            </a:r>
            <a:endParaRPr lang="en-US" sz="690" dirty="0"/>
          </a:p>
        </p:txBody>
      </p:sp>
      <p:sp>
        <p:nvSpPr>
          <p:cNvPr id="4" name="Text 2"/>
          <p:cNvSpPr/>
          <p:nvPr/>
        </p:nvSpPr>
        <p:spPr>
          <a:xfrm>
            <a:off x="530352" y="438912"/>
            <a:ext cx="5029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СЕЙЧАС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ApplyMap нужен именно сейчас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444752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Цифровая инфраструктура уже позволяет запускать такие решения в школах. Уже существуют цифровые профориентационные инструменты, но они в основном отвечают на вопрос "кем быть", а не на вопрос "как реально подать сильную и честную заявку".</a:t>
            </a:r>
            <a:endParaRPr lang="en-US" sz="1420" dirty="0"/>
          </a:p>
        </p:txBody>
      </p:sp>
      <p:sp>
        <p:nvSpPr>
          <p:cNvPr id="7" name="Shape 5"/>
          <p:cNvSpPr/>
          <p:nvPr/>
        </p:nvSpPr>
        <p:spPr>
          <a:xfrm>
            <a:off x="658368" y="2743200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E7EE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935224"/>
            <a:ext cx="2843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1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59536" y="3401568"/>
            <a:ext cx="2843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школ с интернетом 4+ Мбит/с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498848" y="2743200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EAF8F1"/>
          </a:solidFill>
          <a:ln w="12700">
            <a:solidFill>
              <a:srgbClr val="CAEE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0016" y="2935224"/>
            <a:ext cx="2843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8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тыс.+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0016" y="3401568"/>
            <a:ext cx="2843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учеников прошли EduNavigator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8339328" y="2743200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FFF7E6"/>
          </a:solidFill>
          <a:ln w="12700">
            <a:solidFill>
              <a:srgbClr val="F4D1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0496" y="2935224"/>
            <a:ext cx="2843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116.5 тыс.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40496" y="3401568"/>
            <a:ext cx="2843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Mansap Kompasy, 7-11 классы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694944" y="4882896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ApplyMap встраивается после профориентации: от выбора направления к конкретной, честной и проверяемой стратегии поступления.</a:t>
            </a:r>
            <a:endParaRPr lang="en-US" sz="15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645566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5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786384" y="64282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Пилотный план: предложенная проверка, еще не завершенный результат.</a:t>
            </a:r>
            <a:endParaRPr lang="en-US" sz="690" dirty="0"/>
          </a:p>
        </p:txBody>
      </p:sp>
      <p:sp>
        <p:nvSpPr>
          <p:cNvPr id="4" name="Text 2"/>
          <p:cNvSpPr/>
          <p:nvPr/>
        </p:nvSpPr>
        <p:spPr>
          <a:xfrm>
            <a:off x="530352" y="438912"/>
            <a:ext cx="5029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мы проверим эффект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444752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планируем пилот на 10-20 учениках из 2-3 школ разного типа: НИШ, обычная школа и частная школа. Успех проекта будем измерять не обещаниями "поступления", а качеством навигации, прозрачностью источников и полезностью результата.</a:t>
            </a:r>
            <a:endParaRPr lang="en-US" sz="1420" dirty="0"/>
          </a:p>
        </p:txBody>
      </p:sp>
      <p:sp>
        <p:nvSpPr>
          <p:cNvPr id="7" name="Shape 5"/>
          <p:cNvSpPr/>
          <p:nvPr/>
        </p:nvSpPr>
        <p:spPr>
          <a:xfrm>
            <a:off x="713232" y="2542032"/>
            <a:ext cx="10561320" cy="384048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651760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b="1" dirty="0">
                <a:solidFill>
                  <a:srgbClr val="111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Завершение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2651760" y="2642616"/>
            <a:ext cx="7040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дошел от профиля до готового отчета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13232" y="3072384"/>
            <a:ext cx="10561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1821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b="1" dirty="0">
                <a:solidFill>
                  <a:srgbClr val="111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Понятность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2651760" y="3172968"/>
            <a:ext cx="7040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понял следующий конкретный шаг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713232" y="3602736"/>
            <a:ext cx="10561320" cy="384048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712464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b="1" dirty="0">
                <a:solidFill>
                  <a:srgbClr val="111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2651760" y="3703320"/>
            <a:ext cx="7040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ручной переписи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13232" y="4133088"/>
            <a:ext cx="10561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242816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b="1" dirty="0">
                <a:solidFill>
                  <a:srgbClr val="111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2651760" y="4233672"/>
            <a:ext cx="7040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проверяемые источники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713232" y="4663440"/>
            <a:ext cx="10561320" cy="384048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773168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b="1" dirty="0">
                <a:solidFill>
                  <a:srgbClr val="111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Доверие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2651760" y="4764024"/>
            <a:ext cx="7040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рекомендации честные и понятные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772400" y="1097280"/>
            <a:ext cx="3401568" cy="914400"/>
          </a:xfrm>
          <a:prstGeom prst="roundRect">
            <a:avLst>
              <a:gd name="adj" fmla="val 8000"/>
            </a:avLst>
          </a:prstGeom>
          <a:solidFill>
            <a:srgbClr val="E7EE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10144" y="137160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31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Пилотная выборка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8010144" y="1682496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 учеников, 2-3 типа школ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645566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5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786384" y="64282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 по всей деке: БНС, Минпросвещения, OECD, World Bank/UNESCO UIS, Open Doors, gov.kz.</a:t>
            </a:r>
            <a:endParaRPr lang="en-US" sz="690" dirty="0"/>
          </a:p>
        </p:txBody>
      </p:sp>
      <p:pic>
        <p:nvPicPr>
          <p:cNvPr id="4" name="Image 0" descr="C:\Users\galym\Desktop\ApplyMap\artifacts\solve-for-tomorrow-deck\applymap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88264"/>
            <a:ext cx="457200" cy="30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9576" y="603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ApplyMap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58368" y="1353312"/>
            <a:ext cx="9738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ApplyMap помогает школьнику увидеть ценность своего труда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694944" y="2304288"/>
            <a:ext cx="9052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5F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ApplyMap делает навигационную поддержку доступнее для школьников Казахстана, которым не хватает системной помощи по поступлению. Мы не заменяем учителя и не обещаем поступление. Мы создаем честный цифровой инструмент, который помогает ученику понять свой профиль, оформить достижения и двигаться к следующему шагу осознанно.</a:t>
            </a:r>
            <a:endParaRPr lang="en-US" sz="1560" dirty="0"/>
          </a:p>
        </p:txBody>
      </p:sp>
      <p:sp>
        <p:nvSpPr>
          <p:cNvPr id="8" name="Shape 5"/>
          <p:cNvSpPr/>
          <p:nvPr/>
        </p:nvSpPr>
        <p:spPr>
          <a:xfrm>
            <a:off x="694944" y="3968496"/>
            <a:ext cx="10661904" cy="1078992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" y="429768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b="1" dirty="0">
                <a:solidFill>
                  <a:srgbClr val="111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нужно от Samsung Solve for Tomorrow</a:t>
            </a:r>
            <a:endParaRPr lang="en-US" sz="1340" dirty="0"/>
          </a:p>
        </p:txBody>
      </p:sp>
      <p:sp>
        <p:nvSpPr>
          <p:cNvPr id="10" name="Text 7"/>
          <p:cNvSpPr/>
          <p:nvPr/>
        </p:nvSpPr>
        <p:spPr>
          <a:xfrm>
            <a:off x="950976" y="46451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080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менторство, обратная связь по MVP и возможность протестировать пилот в школьной среде Казахстана</a:t>
            </a:r>
            <a:endParaRPr lang="en-US" sz="1280" dirty="0"/>
          </a:p>
        </p:txBody>
      </p:sp>
      <p:sp>
        <p:nvSpPr>
          <p:cNvPr id="11" name="Text 8"/>
          <p:cNvSpPr/>
          <p:nvPr/>
        </p:nvSpPr>
        <p:spPr>
          <a:xfrm>
            <a:off x="713232" y="5797296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 данных: БНС, Образование в РК 2019-2023; Минпросвещения; OECD Skills Strategy Kazakhstan; World Bank/UNESCO UIS; Open Doors; gov.kz EduNavigator/Mansap Kompasy.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ApplyMap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ApplyMap для Samsung Solve for Tomorrow</dc:title>
  <dc:subject>Samsung Solve for Tomorrow Kazakhstan - презентация на 12 слайдов</dc:subject>
  <dc:creator>ApplyMap</dc:creator>
  <cp:lastModifiedBy>ApplyMap</cp:lastModifiedBy>
  <cp:revision>1</cp:revision>
  <dcterms:created xsi:type="dcterms:W3CDTF">2026-04-18T13:49:51Z</dcterms:created>
  <dcterms:modified xsi:type="dcterms:W3CDTF">2026-04-18T13:49:51Z</dcterms:modified>
</cp:coreProperties>
</file>